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DM Sans Medium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DM Sans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2bH9wcpg+T7ktDBf3dxUyyabT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DMSansLight-bold.fntdata"/><Relationship Id="rId23" Type="http://schemas.openxmlformats.org/officeDocument/2006/relationships/font" Target="fonts/DMSans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Light-boldItalic.fntdata"/><Relationship Id="rId25" Type="http://schemas.openxmlformats.org/officeDocument/2006/relationships/font" Target="fonts/DMSansLight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DMSansMedium-regular.fntdata"/><Relationship Id="rId14" Type="http://schemas.openxmlformats.org/officeDocument/2006/relationships/slide" Target="slides/slide10.xml"/><Relationship Id="rId17" Type="http://schemas.openxmlformats.org/officeDocument/2006/relationships/font" Target="fonts/DMSansMedium-italic.fntdata"/><Relationship Id="rId16" Type="http://schemas.openxmlformats.org/officeDocument/2006/relationships/font" Target="fonts/DMSansMedium-bold.fntdata"/><Relationship Id="rId19" Type="http://schemas.openxmlformats.org/officeDocument/2006/relationships/font" Target="fonts/Inter-regular.fntdata"/><Relationship Id="rId18" Type="http://schemas.openxmlformats.org/officeDocument/2006/relationships/font" Target="fonts/DM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793790" y="2172772"/>
            <a:ext cx="609159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Symptom To Specialist</a:t>
            </a:r>
            <a:endParaRPr b="0" i="0" sz="445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793790" y="322171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Aplicación web con IA para diagnóstico preliminar de salud</a:t>
            </a:r>
            <a:endParaRPr b="0" i="0" sz="1750" u="none" cap="none" strike="noStrike"/>
          </a:p>
        </p:txBody>
      </p:sp>
      <p:sp>
        <p:nvSpPr>
          <p:cNvPr id="59" name="Google Shape;59;p1"/>
          <p:cNvSpPr/>
          <p:nvPr/>
        </p:nvSpPr>
        <p:spPr>
          <a:xfrm>
            <a:off x="793790" y="383976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Integrantes:</a:t>
            </a:r>
            <a:endParaRPr b="0" i="0" sz="1750" u="none" cap="none" strike="noStrike"/>
          </a:p>
        </p:txBody>
      </p:sp>
      <p:sp>
        <p:nvSpPr>
          <p:cNvPr id="60" name="Google Shape;60;p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Benjamin Araya</a:t>
            </a:r>
            <a:endParaRPr b="0" i="0" sz="1750" u="none" cap="none" strike="noStrike"/>
          </a:p>
        </p:txBody>
      </p:sp>
      <p:sp>
        <p:nvSpPr>
          <p:cNvPr id="61" name="Google Shape;61;p1"/>
          <p:cNvSpPr/>
          <p:nvPr/>
        </p:nvSpPr>
        <p:spPr>
          <a:xfrm>
            <a:off x="793790" y="507587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Javier Cisterna </a:t>
            </a:r>
            <a:endParaRPr b="0" i="0" sz="1750" u="none" cap="none" strike="noStrike"/>
          </a:p>
        </p:txBody>
      </p:sp>
      <p:sp>
        <p:nvSpPr>
          <p:cNvPr id="62" name="Google Shape;62;p1"/>
          <p:cNvSpPr/>
          <p:nvPr/>
        </p:nvSpPr>
        <p:spPr>
          <a:xfrm>
            <a:off x="793790" y="569392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Roberto Vergara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754737" y="595074"/>
            <a:ext cx="6006346" cy="673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200"/>
              <a:buFont typeface="DM Sans Medium"/>
              <a:buNone/>
            </a:pPr>
            <a:r>
              <a:rPr b="0" i="0" lang="en-US" sz="4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Relevancia del Proyecto</a:t>
            </a:r>
            <a:endParaRPr b="0" i="0" sz="42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754737" y="1807964"/>
            <a:ext cx="3234690" cy="404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00"/>
              <a:buFont typeface="DM Sans Medium"/>
              <a:buNone/>
            </a:pPr>
            <a:r>
              <a:rPr b="0" i="0" lang="en-US" sz="25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Problema Social</a:t>
            </a:r>
            <a:endParaRPr b="0" i="0" sz="2500" u="none" cap="none" strike="noStrike"/>
          </a:p>
        </p:txBody>
      </p:sp>
      <p:sp>
        <p:nvSpPr>
          <p:cNvPr id="71" name="Google Shape;71;p2"/>
          <p:cNvSpPr/>
          <p:nvPr/>
        </p:nvSpPr>
        <p:spPr>
          <a:xfrm>
            <a:off x="754737" y="2427922"/>
            <a:ext cx="3554254" cy="2069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Demora en pre-diagnósticos médicos y falta de acceso rápido a orientación médica básica en Chile, especialmente en zonas con menor acceso a servicios de salud.</a:t>
            </a:r>
            <a:endParaRPr b="0" i="0" sz="16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4842629" y="1807964"/>
            <a:ext cx="3234690" cy="404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00"/>
              <a:buFont typeface="DM Sans Medium"/>
              <a:buNone/>
            </a:pPr>
            <a:r>
              <a:rPr b="0" i="0" lang="en-US" sz="25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Solución Innovadora</a:t>
            </a:r>
            <a:endParaRPr b="0" i="0" sz="250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4842629" y="2427922"/>
            <a:ext cx="3554254" cy="172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Herramienta accesible basada en IA que mejora la orientación médica preliminar, generando un aporte social significativo mediante tecnología HealthTech.</a:t>
            </a:r>
            <a:endParaRPr b="0" i="0" sz="165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754737" y="4934069"/>
            <a:ext cx="3709392" cy="1242417"/>
          </a:xfrm>
          <a:prstGeom prst="roundRect">
            <a:avLst>
              <a:gd fmla="val 260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970359" y="5149691"/>
            <a:ext cx="2695575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100"/>
              <a:buFont typeface="DM Sans Medium"/>
              <a:buNone/>
            </a:pPr>
            <a:r>
              <a:rPr b="0" i="0" lang="en-US" sz="2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Desarrollo Full-Stack</a:t>
            </a:r>
            <a:endParaRPr b="0" i="0" sz="210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970359" y="5615940"/>
            <a:ext cx="3278148" cy="34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React y Flask integrados</a:t>
            </a:r>
            <a:endParaRPr b="0" i="0" sz="165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4679752" y="4934069"/>
            <a:ext cx="3709511" cy="1242417"/>
          </a:xfrm>
          <a:prstGeom prst="roundRect">
            <a:avLst>
              <a:gd fmla="val 260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895374" y="5149691"/>
            <a:ext cx="2695575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100"/>
              <a:buFont typeface="DM Sans Medium"/>
              <a:buNone/>
            </a:pPr>
            <a:r>
              <a:rPr b="0" i="0" lang="en-US" sz="2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Deep Learning</a:t>
            </a:r>
            <a:endParaRPr b="0" i="0" sz="2100" u="none" cap="none" strike="noStrike"/>
          </a:p>
        </p:txBody>
      </p:sp>
      <p:sp>
        <p:nvSpPr>
          <p:cNvPr id="79" name="Google Shape;79;p2"/>
          <p:cNvSpPr/>
          <p:nvPr/>
        </p:nvSpPr>
        <p:spPr>
          <a:xfrm>
            <a:off x="4895374" y="5615940"/>
            <a:ext cx="3278267" cy="34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Keras/TensorFlow aplicado</a:t>
            </a:r>
            <a:endParaRPr b="0" i="0" sz="1650" u="none" cap="none" strike="noStrike"/>
          </a:p>
        </p:txBody>
      </p:sp>
      <p:sp>
        <p:nvSpPr>
          <p:cNvPr id="80" name="Google Shape;80;p2"/>
          <p:cNvSpPr/>
          <p:nvPr/>
        </p:nvSpPr>
        <p:spPr>
          <a:xfrm>
            <a:off x="754737" y="6392108"/>
            <a:ext cx="7634526" cy="1242417"/>
          </a:xfrm>
          <a:prstGeom prst="roundRect">
            <a:avLst>
              <a:gd fmla="val 260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970359" y="6607731"/>
            <a:ext cx="2695575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100"/>
              <a:buFont typeface="DM Sans Medium"/>
              <a:buNone/>
            </a:pPr>
            <a:r>
              <a:rPr b="0" i="0" lang="en-US" sz="2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Impacto Real</a:t>
            </a:r>
            <a:endParaRPr b="0" i="0" sz="2100" u="none" cap="none" strike="noStrike"/>
          </a:p>
        </p:txBody>
      </p:sp>
      <p:sp>
        <p:nvSpPr>
          <p:cNvPr id="82" name="Google Shape;82;p2"/>
          <p:cNvSpPr/>
          <p:nvPr/>
        </p:nvSpPr>
        <p:spPr>
          <a:xfrm>
            <a:off x="970359" y="7073979"/>
            <a:ext cx="7203281" cy="34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Prototipo funcional validado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793790" y="1504593"/>
            <a:ext cx="604004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Objetivos del Proyecto</a:t>
            </a:r>
            <a:endParaRPr b="0" i="0" sz="445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1</a:t>
            </a:r>
            <a:endParaRPr b="0" i="0" sz="175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93790" y="3196352"/>
            <a:ext cx="301847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Análisis de Interacción</a:t>
            </a:r>
            <a:endParaRPr b="0" i="0" sz="220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Definir requerimientos funcionales y no funcionales mediante el estudio de la experiencia del usuario.</a:t>
            </a:r>
            <a:endParaRPr b="0" i="0" sz="1750" u="none" cap="none" strike="noStrike"/>
          </a:p>
        </p:txBody>
      </p:sp>
      <p:sp>
        <p:nvSpPr>
          <p:cNvPr id="93" name="Google Shape;93;p3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2</a:t>
            </a:r>
            <a:endParaRPr b="0" i="0" sz="1750" u="none" cap="none" strike="noStrike"/>
          </a:p>
        </p:txBody>
      </p:sp>
      <p:sp>
        <p:nvSpPr>
          <p:cNvPr id="94" name="Google Shape;94;p3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428548" y="3196352"/>
            <a:ext cx="298787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Diseño Arquitectónico</a:t>
            </a:r>
            <a:endParaRPr b="0" i="0" sz="220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Planificar la integración de frontend, backend, base de datos y modelo de IA de forma escalable.</a:t>
            </a:r>
            <a:endParaRPr b="0" i="0" sz="175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3</a:t>
            </a:r>
            <a:endParaRPr b="0" i="0" sz="1750" u="none" cap="none" strike="noStrike"/>
          </a:p>
        </p:txBody>
      </p:sp>
      <p:sp>
        <p:nvSpPr>
          <p:cNvPr id="98" name="Google Shape;98;p3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93790" y="5338763"/>
            <a:ext cx="405419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Implementación del Modelo IA</a:t>
            </a:r>
            <a:endParaRPr b="0" i="0" sz="220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Entrenar modelo capaz de procesar imágenes y síntomas para sugerir condiciones de salud.</a:t>
            </a:r>
            <a:endParaRPr b="0" i="0" sz="1750" u="none" cap="none" strike="noStrike"/>
          </a:p>
        </p:txBody>
      </p:sp>
      <p:sp>
        <p:nvSpPr>
          <p:cNvPr id="101" name="Google Shape;101;p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4</a:t>
            </a:r>
            <a:endParaRPr b="0" i="0" sz="175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428548" y="5338763"/>
            <a:ext cx="284166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Desarrollo de Interfaz</a:t>
            </a:r>
            <a:endParaRPr b="0" i="0" sz="2200" u="none" cap="none" strike="noStrike"/>
          </a:p>
        </p:txBody>
      </p:sp>
      <p:sp>
        <p:nvSpPr>
          <p:cNvPr id="104" name="Google Shape;104;p3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Crear aplicación web simple y accesible para cargar imágenes y describir síntomas.</a:t>
            </a:r>
            <a:endParaRPr b="0" i="0" sz="1750" u="none" cap="none" strike="noStrike"/>
          </a:p>
        </p:txBody>
      </p:sp>
      <p:pic>
        <p:nvPicPr>
          <p:cNvPr id="105" name="Google Shape;10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0850" y="7772411"/>
            <a:ext cx="16478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793790" y="1240036"/>
            <a:ext cx="769215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Competencias Desarrolladas</a:t>
            </a:r>
            <a:endParaRPr b="0" i="0" sz="445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793790" y="3252907"/>
            <a:ext cx="302954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Desarrollo de Software</a:t>
            </a:r>
            <a:endParaRPr b="0" i="0" sz="22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Diseño de soluciones innovadoras con buenas prácticas de mantenimiento.</a:t>
            </a:r>
            <a:endParaRPr b="0" i="0" sz="175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Inteligencia Artificial</a:t>
            </a:r>
            <a:endParaRPr b="0" i="0" sz="220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Implementación de modelos aplicados a problemas reales de salud.</a:t>
            </a:r>
            <a:endParaRPr b="0" i="0" sz="175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Bases de Datos</a:t>
            </a:r>
            <a:endParaRPr b="0" i="0" sz="220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Administración de ambientes y gestión eficiente de información.</a:t>
            </a:r>
            <a:endParaRPr b="0" i="0" sz="1750" u="none" cap="none" strike="noStrike"/>
          </a:p>
        </p:txBody>
      </p:sp>
      <p:sp>
        <p:nvSpPr>
          <p:cNvPr id="118" name="Google Shape;118;p4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Metodologías Ágiles</a:t>
            </a:r>
            <a:endParaRPr b="0" i="0" sz="220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Aplicación de Scrum/Kanban para gestión efectiva de proyectos.</a:t>
            </a:r>
            <a:endParaRPr b="0" i="0" sz="1750" u="none" cap="none" strike="noStrike"/>
          </a:p>
        </p:txBody>
      </p:sp>
      <p:pic>
        <p:nvPicPr>
          <p:cNvPr id="120" name="Google Shape;12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1167" y="7772400"/>
            <a:ext cx="16478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8342" y="152400"/>
            <a:ext cx="49815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795" y="2402450"/>
            <a:ext cx="566973" cy="56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6880" y="2402450"/>
            <a:ext cx="566973" cy="56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3795" y="4911300"/>
            <a:ext cx="566973" cy="56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6880" y="4911300"/>
            <a:ext cx="566973" cy="566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787241" y="620197"/>
            <a:ext cx="5623798" cy="702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00"/>
              <a:buFont typeface="DM Sans Medium"/>
              <a:buNone/>
            </a:pPr>
            <a:r>
              <a:rPr b="0" i="0" lang="en-US" sz="4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Metodología Ágil</a:t>
            </a:r>
            <a:endParaRPr b="0" i="0" sz="440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787241" y="1660446"/>
            <a:ext cx="7569517" cy="71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Flujo de trabajo inspirado en Scrum/Kanban, pertinente por la alta incertidumbre técnica del desarrollo con IA.</a:t>
            </a:r>
            <a:endParaRPr b="0" i="0" sz="175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787241" y="2633067"/>
            <a:ext cx="3672245" cy="2555558"/>
          </a:xfrm>
          <a:prstGeom prst="roundRect">
            <a:avLst>
              <a:gd fmla="val 132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012150" y="2857976"/>
            <a:ext cx="674846" cy="674846"/>
          </a:xfrm>
          <a:prstGeom prst="roundRect">
            <a:avLst>
              <a:gd fmla="val 13548403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7769" y="3043595"/>
            <a:ext cx="303609" cy="3036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1012150" y="3757732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Product Owner</a:t>
            </a:r>
            <a:endParaRPr b="0" i="0" sz="220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1012150" y="4244102"/>
            <a:ext cx="3222427" cy="71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Define funcionalidades y prioriza el Product Backlog</a:t>
            </a:r>
            <a:endParaRPr b="0" i="0" sz="175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4684395" y="2633067"/>
            <a:ext cx="3672364" cy="2555558"/>
          </a:xfrm>
          <a:prstGeom prst="roundRect">
            <a:avLst>
              <a:gd fmla="val 132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909304" y="2857976"/>
            <a:ext cx="674846" cy="674846"/>
          </a:xfrm>
          <a:prstGeom prst="roundRect">
            <a:avLst>
              <a:gd fmla="val 13548403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4923" y="3043595"/>
            <a:ext cx="303609" cy="3036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4909304" y="3757732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Scrum Master</a:t>
            </a:r>
            <a:endParaRPr b="0" i="0" sz="2200" u="none" cap="none" strike="noStrike"/>
          </a:p>
        </p:txBody>
      </p:sp>
      <p:sp>
        <p:nvSpPr>
          <p:cNvPr id="143" name="Google Shape;143;p5"/>
          <p:cNvSpPr/>
          <p:nvPr/>
        </p:nvSpPr>
        <p:spPr>
          <a:xfrm>
            <a:off x="4909304" y="4244102"/>
            <a:ext cx="3222546" cy="71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Facilita metodología y elimina obstáculos</a:t>
            </a:r>
            <a:endParaRPr b="0" i="0" sz="175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787241" y="5413534"/>
            <a:ext cx="7569517" cy="2195751"/>
          </a:xfrm>
          <a:prstGeom prst="roundRect">
            <a:avLst>
              <a:gd fmla="val 153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012150" y="5638443"/>
            <a:ext cx="674846" cy="674846"/>
          </a:xfrm>
          <a:prstGeom prst="roundRect">
            <a:avLst>
              <a:gd fmla="val 13548403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7769" y="5824061"/>
            <a:ext cx="303609" cy="3036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1012150" y="6538198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Development Team</a:t>
            </a:r>
            <a:endParaRPr b="0" i="0" sz="220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1012150" y="7024568"/>
            <a:ext cx="7119699" cy="359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Desarrolla, prueba y entrega incrementos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711279" y="560308"/>
            <a:ext cx="5080873" cy="6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000"/>
              <a:buFont typeface="DM Sans Medium"/>
              <a:buNone/>
            </a:pPr>
            <a:r>
              <a:rPr b="0" i="0" lang="en-US" sz="4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Fases de Desarrollo</a:t>
            </a:r>
            <a:endParaRPr b="0" i="0" sz="40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fmla="val 13335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499860" y="1818799"/>
            <a:ext cx="609600" cy="22860"/>
          </a:xfrm>
          <a:prstGeom prst="roundRect">
            <a:avLst>
              <a:gd fmla="val 13335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086600" y="1601629"/>
            <a:ext cx="457200" cy="457200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162800" y="1639729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 b="0" i="0" sz="240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3687366" y="1671399"/>
            <a:ext cx="2611755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Planificación y Diseño</a:t>
            </a:r>
            <a:endParaRPr b="0" i="0" sz="2000" u="none" cap="none" strike="noStrike"/>
          </a:p>
        </p:txBody>
      </p:sp>
      <p:sp>
        <p:nvSpPr>
          <p:cNvPr id="160" name="Google Shape;160;p6"/>
          <p:cNvSpPr/>
          <p:nvPr/>
        </p:nvSpPr>
        <p:spPr>
          <a:xfrm>
            <a:off x="711279" y="2110859"/>
            <a:ext cx="5587841" cy="650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Stack tecnológico: React, Flask, PostgreSQL, TensorFlow. Arquitectura Cliente-Servidor.</a:t>
            </a:r>
            <a:endParaRPr b="0" i="0" sz="1600" u="none" cap="none" strike="noStrike"/>
          </a:p>
        </p:txBody>
      </p:sp>
      <p:sp>
        <p:nvSpPr>
          <p:cNvPr id="161" name="Google Shape;161;p6"/>
          <p:cNvSpPr/>
          <p:nvPr/>
        </p:nvSpPr>
        <p:spPr>
          <a:xfrm>
            <a:off x="7520940" y="3037999"/>
            <a:ext cx="609600" cy="22860"/>
          </a:xfrm>
          <a:prstGeom prst="roundRect">
            <a:avLst>
              <a:gd fmla="val 13335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086600" y="2820829"/>
            <a:ext cx="457200" cy="457200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7162800" y="2858929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b="0" i="0" sz="240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8331279" y="2890599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Desarrollo Backend</a:t>
            </a:r>
            <a:endParaRPr b="0" i="0" sz="2000" u="none" cap="none" strike="noStrike"/>
          </a:p>
        </p:txBody>
      </p:sp>
      <p:sp>
        <p:nvSpPr>
          <p:cNvPr id="165" name="Google Shape;165;p6"/>
          <p:cNvSpPr/>
          <p:nvPr/>
        </p:nvSpPr>
        <p:spPr>
          <a:xfrm>
            <a:off x="8331279" y="3330059"/>
            <a:ext cx="5587841" cy="650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Estructura Flask, configuración PostgreSQL, endpoints de autenticación JWT y predicción.</a:t>
            </a:r>
            <a:endParaRPr b="0" i="0" sz="1600" u="none" cap="none" strike="noStrike"/>
          </a:p>
        </p:txBody>
      </p:sp>
      <p:sp>
        <p:nvSpPr>
          <p:cNvPr id="166" name="Google Shape;166;p6"/>
          <p:cNvSpPr/>
          <p:nvPr/>
        </p:nvSpPr>
        <p:spPr>
          <a:xfrm>
            <a:off x="6499860" y="4088963"/>
            <a:ext cx="609600" cy="22860"/>
          </a:xfrm>
          <a:prstGeom prst="roundRect">
            <a:avLst>
              <a:gd fmla="val 13335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7086600" y="3871793"/>
            <a:ext cx="457200" cy="457200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162800" y="3909893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3</a:t>
            </a:r>
            <a:endParaRPr b="0" i="0" sz="2400" u="none" cap="none" strike="noStrike"/>
          </a:p>
        </p:txBody>
      </p:sp>
      <p:sp>
        <p:nvSpPr>
          <p:cNvPr id="169" name="Google Shape;169;p6"/>
          <p:cNvSpPr/>
          <p:nvPr/>
        </p:nvSpPr>
        <p:spPr>
          <a:xfrm>
            <a:off x="2913901" y="3941575"/>
            <a:ext cx="3385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Integración Modelo IA</a:t>
            </a:r>
            <a:endParaRPr b="0" i="0" sz="2000" u="none" cap="none" strike="noStrike"/>
          </a:p>
        </p:txBody>
      </p:sp>
      <p:sp>
        <p:nvSpPr>
          <p:cNvPr id="170" name="Google Shape;170;p6"/>
          <p:cNvSpPr/>
          <p:nvPr/>
        </p:nvSpPr>
        <p:spPr>
          <a:xfrm>
            <a:off x="711279" y="4381024"/>
            <a:ext cx="55878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Carga y prueba del modelo .h5 (Keras) en entorno Flask.</a:t>
            </a:r>
            <a:endParaRPr b="0" i="0" sz="1600" u="none" cap="none" strike="noStrike"/>
          </a:p>
        </p:txBody>
      </p:sp>
      <p:sp>
        <p:nvSpPr>
          <p:cNvPr id="171" name="Google Shape;171;p6"/>
          <p:cNvSpPr/>
          <p:nvPr/>
        </p:nvSpPr>
        <p:spPr>
          <a:xfrm>
            <a:off x="7520940" y="5139928"/>
            <a:ext cx="609600" cy="22860"/>
          </a:xfrm>
          <a:prstGeom prst="roundRect">
            <a:avLst>
              <a:gd fmla="val 13335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086600" y="4922758"/>
            <a:ext cx="457200" cy="457200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7162800" y="4960858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4</a:t>
            </a:r>
            <a:endParaRPr b="0" i="0" sz="2400" u="none" cap="none" strike="noStrike"/>
          </a:p>
        </p:txBody>
      </p:sp>
      <p:sp>
        <p:nvSpPr>
          <p:cNvPr id="174" name="Google Shape;174;p6"/>
          <p:cNvSpPr/>
          <p:nvPr/>
        </p:nvSpPr>
        <p:spPr>
          <a:xfrm>
            <a:off x="8331279" y="4992529"/>
            <a:ext cx="2540437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Desarrollo Frontend</a:t>
            </a:r>
            <a:endParaRPr b="0" i="0" sz="2000" u="none" cap="none" strike="noStrike"/>
          </a:p>
        </p:txBody>
      </p:sp>
      <p:sp>
        <p:nvSpPr>
          <p:cNvPr id="175" name="Google Shape;175;p6"/>
          <p:cNvSpPr/>
          <p:nvPr/>
        </p:nvSpPr>
        <p:spPr>
          <a:xfrm>
            <a:off x="8331279" y="5431988"/>
            <a:ext cx="5587841" cy="650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Interfaz React con formularios de carga y servicios para consumir API.</a:t>
            </a:r>
            <a:endParaRPr b="0" i="0" sz="1600" u="none" cap="none" strike="noStrike"/>
          </a:p>
        </p:txBody>
      </p:sp>
      <p:sp>
        <p:nvSpPr>
          <p:cNvPr id="176" name="Google Shape;176;p6"/>
          <p:cNvSpPr/>
          <p:nvPr/>
        </p:nvSpPr>
        <p:spPr>
          <a:xfrm>
            <a:off x="6499860" y="6190893"/>
            <a:ext cx="609600" cy="22860"/>
          </a:xfrm>
          <a:prstGeom prst="roundRect">
            <a:avLst>
              <a:gd fmla="val 133358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7086600" y="5973723"/>
            <a:ext cx="457200" cy="457200"/>
          </a:xfrm>
          <a:prstGeom prst="roundRect">
            <a:avLst>
              <a:gd fmla="val 666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7162800" y="6011823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5</a:t>
            </a:r>
            <a:endParaRPr b="0" i="0" sz="2400" u="none" cap="none" strike="noStrike"/>
          </a:p>
        </p:txBody>
      </p:sp>
      <p:sp>
        <p:nvSpPr>
          <p:cNvPr id="179" name="Google Shape;179;p6"/>
          <p:cNvSpPr/>
          <p:nvPr/>
        </p:nvSpPr>
        <p:spPr>
          <a:xfrm>
            <a:off x="2255527" y="6043500"/>
            <a:ext cx="4043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Pruebas e Integración</a:t>
            </a:r>
            <a:endParaRPr b="0" i="0" sz="2000" u="none" cap="none" strike="noStrike"/>
          </a:p>
        </p:txBody>
      </p:sp>
      <p:sp>
        <p:nvSpPr>
          <p:cNvPr id="180" name="Google Shape;180;p6"/>
          <p:cNvSpPr/>
          <p:nvPr/>
        </p:nvSpPr>
        <p:spPr>
          <a:xfrm>
            <a:off x="711279" y="6482953"/>
            <a:ext cx="5587841" cy="650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Validación de conectividad, solución de CORS y verificación del flujo completo.</a:t>
            </a:r>
            <a:endParaRPr b="0" i="0" sz="1600" u="none" cap="none" strike="noStrike"/>
          </a:p>
        </p:txBody>
      </p:sp>
      <p:pic>
        <p:nvPicPr>
          <p:cNvPr id="181" name="Google Shape;18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1167" y="7772400"/>
            <a:ext cx="16478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7" name="Google Shape;1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723543" y="1221462"/>
            <a:ext cx="7580471" cy="646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050"/>
              <a:buFont typeface="DM Sans Medium"/>
              <a:buNone/>
            </a:pPr>
            <a:r>
              <a:rPr b="0" i="0" lang="en-US" sz="4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Desafíos Técnicos y Soluciones</a:t>
            </a:r>
            <a:endParaRPr b="0" i="0" sz="4050" u="none" cap="none" strike="noStrike"/>
          </a:p>
        </p:txBody>
      </p:sp>
      <p:sp>
        <p:nvSpPr>
          <p:cNvPr id="189" name="Google Shape;189;p7"/>
          <p:cNvSpPr/>
          <p:nvPr/>
        </p:nvSpPr>
        <p:spPr>
          <a:xfrm>
            <a:off x="723543" y="2384227"/>
            <a:ext cx="3113484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Desafíos Enfrentados</a:t>
            </a:r>
            <a:endParaRPr b="0" i="0" sz="2400" u="none" cap="none" strike="noStrike"/>
          </a:p>
        </p:txBody>
      </p:sp>
      <p:sp>
        <p:nvSpPr>
          <p:cNvPr id="190" name="Google Shape;190;p7"/>
          <p:cNvSpPr/>
          <p:nvPr/>
        </p:nvSpPr>
        <p:spPr>
          <a:xfrm>
            <a:off x="723543" y="2978468"/>
            <a:ext cx="3596283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Errores CORS bloqueando comunicación frontend-backend</a:t>
            </a:r>
            <a:endParaRPr b="0" i="0" sz="1600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723543" y="3712012"/>
            <a:ext cx="3596283" cy="991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Pre-procesamiento de imágenes no alineado con formato del modelo</a:t>
            </a:r>
            <a:endParaRPr b="0" i="0" sz="1600" u="none" cap="none" strike="noStrike"/>
          </a:p>
        </p:txBody>
      </p:sp>
      <p:sp>
        <p:nvSpPr>
          <p:cNvPr id="192" name="Google Shape;192;p7"/>
          <p:cNvSpPr/>
          <p:nvPr/>
        </p:nvSpPr>
        <p:spPr>
          <a:xfrm>
            <a:off x="723543" y="4776192"/>
            <a:ext cx="3596283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Integración compleja de múltiples tecnologías</a:t>
            </a:r>
            <a:endParaRPr b="0" i="0" sz="1600" u="none" cap="none" strike="noStrike"/>
          </a:p>
        </p:txBody>
      </p:sp>
      <p:sp>
        <p:nvSpPr>
          <p:cNvPr id="193" name="Google Shape;193;p7"/>
          <p:cNvSpPr/>
          <p:nvPr/>
        </p:nvSpPr>
        <p:spPr>
          <a:xfrm>
            <a:off x="4831794" y="2384227"/>
            <a:ext cx="359628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00"/>
              <a:buFont typeface="DM Sans Medium"/>
              <a:buNone/>
            </a:pPr>
            <a:r>
              <a:rPr b="0" i="0" lang="en-US" sz="24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Soluciones Implementadas</a:t>
            </a:r>
            <a:endParaRPr b="0" i="0" sz="2400" u="none" cap="none" strike="noStrike"/>
          </a:p>
        </p:txBody>
      </p:sp>
      <p:sp>
        <p:nvSpPr>
          <p:cNvPr id="194" name="Google Shape;194;p7"/>
          <p:cNvSpPr/>
          <p:nvPr/>
        </p:nvSpPr>
        <p:spPr>
          <a:xfrm>
            <a:off x="4831794" y="3366016"/>
            <a:ext cx="3596283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Librería flask-cors para gestión de peticiones HTTP</a:t>
            </a:r>
            <a:endParaRPr b="0" i="0" sz="1600" u="none" cap="none" strike="noStrike"/>
          </a:p>
        </p:txBody>
      </p:sp>
      <p:sp>
        <p:nvSpPr>
          <p:cNvPr id="195" name="Google Shape;195;p7"/>
          <p:cNvSpPr/>
          <p:nvPr/>
        </p:nvSpPr>
        <p:spPr>
          <a:xfrm>
            <a:off x="4831794" y="4099560"/>
            <a:ext cx="3596283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Funciones de procesamiento con PIL/OpenCV en endpoint</a:t>
            </a:r>
            <a:endParaRPr b="0" i="0" sz="1600" u="none" cap="none" strike="noStrike"/>
          </a:p>
        </p:txBody>
      </p:sp>
      <p:sp>
        <p:nvSpPr>
          <p:cNvPr id="196" name="Google Shape;196;p7"/>
          <p:cNvSpPr/>
          <p:nvPr/>
        </p:nvSpPr>
        <p:spPr>
          <a:xfrm>
            <a:off x="4831794" y="4833104"/>
            <a:ext cx="3596283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Estandarización de imágenes al formato esperado</a:t>
            </a:r>
            <a:endParaRPr b="0" i="0" sz="1600" u="none" cap="none" strike="noStrike"/>
          </a:p>
        </p:txBody>
      </p:sp>
      <p:sp>
        <p:nvSpPr>
          <p:cNvPr id="197" name="Google Shape;197;p7"/>
          <p:cNvSpPr/>
          <p:nvPr/>
        </p:nvSpPr>
        <p:spPr>
          <a:xfrm>
            <a:off x="723543" y="5799177"/>
            <a:ext cx="7696914" cy="1208961"/>
          </a:xfrm>
          <a:prstGeom prst="roundRect">
            <a:avLst>
              <a:gd fmla="val 2565" name="adj"/>
            </a:avLst>
          </a:prstGeom>
          <a:solidFill>
            <a:srgbClr val="D6D6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0235" y="6112907"/>
            <a:ext cx="258366" cy="20669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1395293" y="6057543"/>
            <a:ext cx="6818471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Facilitador clave: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Github para control de versiones y arquitectura modular de Flask/React permitieron integración eficiente.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793790" y="2602230"/>
            <a:ext cx="643187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Resultados y Evidencias</a:t>
            </a:r>
            <a:endParaRPr b="0" i="0" sz="4450" u="none" cap="none" strike="noStrike"/>
          </a:p>
        </p:txBody>
      </p:sp>
      <p:sp>
        <p:nvSpPr>
          <p:cNvPr id="206" name="Google Shape;206;p8"/>
          <p:cNvSpPr/>
          <p:nvPr/>
        </p:nvSpPr>
        <p:spPr>
          <a:xfrm>
            <a:off x="793790" y="40481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Prototipo Funcional</a:t>
            </a:r>
            <a:endParaRPr b="0" i="0" sz="2200" u="none" cap="none" strike="noStrike"/>
          </a:p>
        </p:txBody>
      </p:sp>
      <p:sp>
        <p:nvSpPr>
          <p:cNvPr id="207" name="Google Shape;207;p8"/>
          <p:cNvSpPr/>
          <p:nvPr/>
        </p:nvSpPr>
        <p:spPr>
          <a:xfrm>
            <a:off x="793790" y="4538543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Versión inicial con carga de imágenes y análisis básico que validó la factibilidad técnica.</a:t>
            </a:r>
            <a:endParaRPr b="0" i="0" sz="1750" u="none" cap="none" strike="noStrike"/>
          </a:p>
        </p:txBody>
      </p:sp>
      <p:sp>
        <p:nvSpPr>
          <p:cNvPr id="208" name="Google Shape;208;p8"/>
          <p:cNvSpPr/>
          <p:nvPr/>
        </p:nvSpPr>
        <p:spPr>
          <a:xfrm>
            <a:off x="5235893" y="40481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Modelo IA Entrenado</a:t>
            </a:r>
            <a:endParaRPr b="0" i="0" sz="2200" u="none" cap="none" strike="noStrike"/>
          </a:p>
        </p:txBody>
      </p:sp>
      <p:sp>
        <p:nvSpPr>
          <p:cNvPr id="209" name="Google Shape;209;p8"/>
          <p:cNvSpPr/>
          <p:nvPr/>
        </p:nvSpPr>
        <p:spPr>
          <a:xfrm>
            <a:off x="5235893" y="4538543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Algoritmo capaz de analizar imágenes y síntomas, demostrando aplicación práctica de IA.</a:t>
            </a:r>
            <a:endParaRPr b="0" i="0" sz="1750" u="none" cap="none" strike="noStrike"/>
          </a:p>
        </p:txBody>
      </p:sp>
      <p:sp>
        <p:nvSpPr>
          <p:cNvPr id="210" name="Google Shape;210;p8"/>
          <p:cNvSpPr/>
          <p:nvPr/>
        </p:nvSpPr>
        <p:spPr>
          <a:xfrm>
            <a:off x="9677995" y="404812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Pruebas de Usuario</a:t>
            </a:r>
            <a:endParaRPr b="0" i="0" sz="2200" u="none" cap="none" strike="noStrike"/>
          </a:p>
        </p:txBody>
      </p:sp>
      <p:sp>
        <p:nvSpPr>
          <p:cNvPr id="211" name="Google Shape;211;p8"/>
          <p:cNvSpPr/>
          <p:nvPr/>
        </p:nvSpPr>
        <p:spPr>
          <a:xfrm>
            <a:off x="9677995" y="4538543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Casos simulados que verificaron usabilidad y efectividad del sistema.</a:t>
            </a:r>
            <a:endParaRPr b="0" i="0" sz="1750" u="none" cap="none" strike="noStrike"/>
          </a:p>
        </p:txBody>
      </p:sp>
      <p:pic>
        <p:nvPicPr>
          <p:cNvPr id="212" name="Google Shape;21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1167" y="7772400"/>
            <a:ext cx="16478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6280190" y="63758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Reflexión Profesional</a:t>
            </a:r>
            <a:endParaRPr b="0" i="0" sz="445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6620351" y="1941671"/>
            <a:ext cx="721625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El proyecto consolidó el interés en inteligencia artificial aplicada a problemas reales, especialmente en salud digital, fortaleciendo la visión sobre cómo integrar IA y desarrollo web en soluciones con impacto social.</a:t>
            </a:r>
            <a:endParaRPr b="0" i="0" sz="1750" u="none" cap="none" strike="noStrike"/>
          </a:p>
        </p:txBody>
      </p:sp>
      <p:sp>
        <p:nvSpPr>
          <p:cNvPr id="221" name="Google Shape;221;p9"/>
          <p:cNvSpPr/>
          <p:nvPr/>
        </p:nvSpPr>
        <p:spPr>
          <a:xfrm>
            <a:off x="6280190" y="1686520"/>
            <a:ext cx="30480" cy="1961912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280190" y="3903583"/>
            <a:ext cx="3664744" cy="2093714"/>
          </a:xfrm>
          <a:prstGeom prst="roundRect">
            <a:avLst>
              <a:gd fmla="val 1625" name="adj"/>
            </a:avLst>
          </a:prstGeom>
          <a:solidFill>
            <a:srgbClr val="F9F8F5"/>
          </a:solidFill>
          <a:ln cap="flat" cmpd="sng" w="304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537484" y="41608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Análisis de Datos</a:t>
            </a:r>
            <a:endParaRPr b="0" i="0" sz="2200" u="none" cap="none" strike="noStrike"/>
          </a:p>
        </p:txBody>
      </p:sp>
      <p:sp>
        <p:nvSpPr>
          <p:cNvPr id="224" name="Google Shape;224;p9"/>
          <p:cNvSpPr/>
          <p:nvPr/>
        </p:nvSpPr>
        <p:spPr>
          <a:xfrm>
            <a:off x="6537484" y="4651296"/>
            <a:ext cx="31501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Fortalecimiento en procesamiento y análisis de información médica</a:t>
            </a:r>
            <a:endParaRPr b="0" i="0" sz="1750" u="none" cap="none" strike="noStrike"/>
          </a:p>
        </p:txBody>
      </p:sp>
      <p:sp>
        <p:nvSpPr>
          <p:cNvPr id="225" name="Google Shape;225;p9"/>
          <p:cNvSpPr/>
          <p:nvPr/>
        </p:nvSpPr>
        <p:spPr>
          <a:xfrm>
            <a:off x="10171748" y="3903583"/>
            <a:ext cx="3664863" cy="2093714"/>
          </a:xfrm>
          <a:prstGeom prst="roundRect">
            <a:avLst>
              <a:gd fmla="val 1625" name="adj"/>
            </a:avLst>
          </a:prstGeom>
          <a:solidFill>
            <a:srgbClr val="F9F8F5"/>
          </a:solidFill>
          <a:ln cap="flat" cmpd="sng" w="304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0429042" y="41608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Desarrollo Web</a:t>
            </a:r>
            <a:endParaRPr b="0" i="0" sz="2200" u="none" cap="none" strike="noStrike"/>
          </a:p>
        </p:txBody>
      </p:sp>
      <p:sp>
        <p:nvSpPr>
          <p:cNvPr id="227" name="Google Shape;227;p9"/>
          <p:cNvSpPr/>
          <p:nvPr/>
        </p:nvSpPr>
        <p:spPr>
          <a:xfrm>
            <a:off x="10429042" y="4651296"/>
            <a:ext cx="315027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Dominio de sistemas escalables y arquitecturas modernas</a:t>
            </a:r>
            <a:endParaRPr b="0" i="0" sz="1750" u="none" cap="none" strike="noStrike"/>
          </a:p>
        </p:txBody>
      </p:sp>
      <p:sp>
        <p:nvSpPr>
          <p:cNvPr id="228" name="Google Shape;228;p9"/>
          <p:cNvSpPr/>
          <p:nvPr/>
        </p:nvSpPr>
        <p:spPr>
          <a:xfrm>
            <a:off x="6280190" y="6224111"/>
            <a:ext cx="7556421" cy="1367909"/>
          </a:xfrm>
          <a:prstGeom prst="roundRect">
            <a:avLst>
              <a:gd fmla="val 2487" name="adj"/>
            </a:avLst>
          </a:prstGeom>
          <a:solidFill>
            <a:srgbClr val="F9F8F5"/>
          </a:solidFill>
          <a:ln cap="flat" cmpd="sng" w="304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6537484" y="648140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Trabajo Colaborativo</a:t>
            </a:r>
            <a:endParaRPr b="0" i="0" sz="2200" u="none" cap="none" strike="noStrike"/>
          </a:p>
        </p:txBody>
      </p:sp>
      <p:sp>
        <p:nvSpPr>
          <p:cNvPr id="230" name="Google Shape;230;p9"/>
          <p:cNvSpPr/>
          <p:nvPr/>
        </p:nvSpPr>
        <p:spPr>
          <a:xfrm>
            <a:off x="6537484" y="6971824"/>
            <a:ext cx="704183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Importancia de la gestión ágil y coordinación de equipos</a:t>
            </a:r>
            <a:endParaRPr b="0" i="0" sz="1750" u="none" cap="none" strike="noStrike"/>
          </a:p>
        </p:txBody>
      </p:sp>
      <p:pic>
        <p:nvPicPr>
          <p:cNvPr id="231" name="Google Shape;23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1167" y="7772400"/>
            <a:ext cx="164782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7" name="Google Shape;2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6280190" y="904042"/>
            <a:ext cx="632745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Proyecciones Laborales</a:t>
            </a:r>
            <a:endParaRPr b="0" i="0" sz="445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6280190" y="1952982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Una experiencia integral que une teoría, práctica e innovación, fortaleciendo la preparación para el ejercicio profesional.</a:t>
            </a:r>
            <a:endParaRPr b="0" i="0" sz="1750" u="none" cap="none" strike="noStrike"/>
          </a:p>
        </p:txBody>
      </p:sp>
      <p:pic>
        <p:nvPicPr>
          <p:cNvPr descr="preencoded.png" id="240" name="Google Shape;2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933938"/>
            <a:ext cx="1134070" cy="166985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7641074" y="31607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Desarrollo con IA</a:t>
            </a:r>
            <a:endParaRPr b="0" i="0" sz="2200" u="none" cap="none" strike="noStrike"/>
          </a:p>
        </p:txBody>
      </p:sp>
      <p:sp>
        <p:nvSpPr>
          <p:cNvPr id="242" name="Google Shape;242;p10"/>
          <p:cNvSpPr/>
          <p:nvPr/>
        </p:nvSpPr>
        <p:spPr>
          <a:xfrm>
            <a:off x="7641074" y="3651171"/>
            <a:ext cx="619553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Software con enfoque en inteligencia artificial y analítica de datos</a:t>
            </a:r>
            <a:endParaRPr b="0" i="0" sz="1750" u="none" cap="none" strike="noStrike"/>
          </a:p>
        </p:txBody>
      </p:sp>
      <p:pic>
        <p:nvPicPr>
          <p:cNvPr descr="preencoded.png" id="243" name="Google Shape;2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4603790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7641074" y="4830604"/>
            <a:ext cx="286011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Gestión de Proyectos</a:t>
            </a:r>
            <a:endParaRPr b="0" i="0" sz="2200" u="none" cap="none" strike="noStrike"/>
          </a:p>
        </p:txBody>
      </p:sp>
      <p:sp>
        <p:nvSpPr>
          <p:cNvPr id="245" name="Google Shape;245;p10"/>
          <p:cNvSpPr/>
          <p:nvPr/>
        </p:nvSpPr>
        <p:spPr>
          <a:xfrm>
            <a:off x="7641074" y="5321022"/>
            <a:ext cx="61955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Liderazgo tecnológico con metodologías ágiles</a:t>
            </a:r>
            <a:endParaRPr b="0" i="0" sz="1750" u="none" cap="none" strike="noStrike"/>
          </a:p>
        </p:txBody>
      </p:sp>
      <p:pic>
        <p:nvPicPr>
          <p:cNvPr descr="preencoded.png" id="246" name="Google Shape;24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96467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/>
          <p:nvPr/>
        </p:nvSpPr>
        <p:spPr>
          <a:xfrm>
            <a:off x="7641074" y="61914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Sistemas Escalables</a:t>
            </a:r>
            <a:endParaRPr b="0" i="0" sz="2200" u="none" cap="none" strike="noStrike"/>
          </a:p>
        </p:txBody>
      </p:sp>
      <p:sp>
        <p:nvSpPr>
          <p:cNvPr id="248" name="Google Shape;248;p10"/>
          <p:cNvSpPr/>
          <p:nvPr/>
        </p:nvSpPr>
        <p:spPr>
          <a:xfrm>
            <a:off x="7641074" y="6681907"/>
            <a:ext cx="619553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Diseño y mantenimiento de bases de datos robustas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2025-10-24T20:29:21Z</dcterms:created>
</cp:coreProperties>
</file>