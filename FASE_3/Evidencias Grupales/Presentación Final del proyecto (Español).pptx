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Roboto Slab"/>
      <p:regular r:id="rId15"/>
      <p:bold r:id="rId16"/>
    </p:embeddedFont>
    <p:embeddedFont>
      <p:font typeface="Roboto Slab Light"/>
      <p:regular r:id="rId17"/>
      <p:bold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GO+e4Jq7wUpyJliytoLr721ro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7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RobotoSlabLight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Roboto-regular.fntdata"/><Relationship Id="rId6" Type="http://schemas.openxmlformats.org/officeDocument/2006/relationships/slide" Target="slides/slide2.xml"/><Relationship Id="rId18" Type="http://schemas.openxmlformats.org/officeDocument/2006/relationships/font" Target="fonts/RobotoSlab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3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793790" y="2300288"/>
            <a:ext cx="616565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Symptom To Specialist</a:t>
            </a:r>
            <a:endParaRPr b="0" i="0" sz="445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793790" y="334922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Aplicación de IA para orientación médica rápida mediante análisis de síntomas e imágenes</a:t>
            </a:r>
            <a:endParaRPr b="0" i="0" sz="1750" u="none" cap="none" strike="noStrike"/>
          </a:p>
        </p:txBody>
      </p:sp>
      <p:sp>
        <p:nvSpPr>
          <p:cNvPr id="59" name="Google Shape;59;p1"/>
          <p:cNvSpPr/>
          <p:nvPr/>
        </p:nvSpPr>
        <p:spPr>
          <a:xfrm>
            <a:off x="793790" y="4330184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Benjamin Araya</a:t>
            </a:r>
            <a:endParaRPr b="0" i="0" sz="1750" u="none" cap="none" strike="noStrike"/>
          </a:p>
        </p:txBody>
      </p:sp>
      <p:sp>
        <p:nvSpPr>
          <p:cNvPr id="60" name="Google Shape;60;p1"/>
          <p:cNvSpPr/>
          <p:nvPr/>
        </p:nvSpPr>
        <p:spPr>
          <a:xfrm>
            <a:off x="793790" y="494823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Javier Cisterna</a:t>
            </a:r>
            <a:endParaRPr b="0" i="0" sz="1750" u="none" cap="none" strike="noStrike"/>
          </a:p>
        </p:txBody>
      </p:sp>
      <p:sp>
        <p:nvSpPr>
          <p:cNvPr id="61" name="Google Shape;61;p1"/>
          <p:cNvSpPr/>
          <p:nvPr/>
        </p:nvSpPr>
        <p:spPr>
          <a:xfrm>
            <a:off x="793790" y="5566291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Roberto Vergara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6280190" y="162984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El Problema</a:t>
            </a:r>
            <a:endParaRPr b="0" i="0" sz="445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6280190" y="2678787"/>
            <a:ext cx="3664744" cy="2387084"/>
          </a:xfrm>
          <a:prstGeom prst="roundRect">
            <a:avLst>
              <a:gd fmla="val 142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507004" y="2905601"/>
            <a:ext cx="321111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Largos Tiempos de Espera</a:t>
            </a:r>
            <a:endParaRPr b="0" i="0" sz="2200" u="none" cap="none" strike="noStrike"/>
          </a:p>
        </p:txBody>
      </p:sp>
      <p:sp>
        <p:nvSpPr>
          <p:cNvPr id="71" name="Google Shape;71;p2"/>
          <p:cNvSpPr/>
          <p:nvPr/>
        </p:nvSpPr>
        <p:spPr>
          <a:xfrm>
            <a:off x="6507004" y="3750350"/>
            <a:ext cx="3211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Saturación en atención primaria dificulta acceso rápido a orientación médica.</a:t>
            </a:r>
            <a:endParaRPr b="0" i="0" sz="175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10171748" y="2678787"/>
            <a:ext cx="3664863" cy="2387084"/>
          </a:xfrm>
          <a:prstGeom prst="roundRect">
            <a:avLst>
              <a:gd fmla="val 142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10398562" y="290560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Acceso Limitado</a:t>
            </a:r>
            <a:endParaRPr b="0" i="0" sz="220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10398562" y="3396020"/>
            <a:ext cx="321123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Barreras geográficas y económicas impiden consulta con especialistas.</a:t>
            </a:r>
            <a:endParaRPr b="0" i="0" sz="175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6280190" y="5292685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507004" y="55194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Falta de Orientación</a:t>
            </a:r>
            <a:endParaRPr b="0" i="0" sz="220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6507004" y="6009918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Poblaciones vulnerables sin herramientas para triaje básico inicial.</a:t>
            </a:r>
            <a:endParaRPr b="0" i="0" sz="1750" u="none" cap="none" strike="noStrike"/>
          </a:p>
        </p:txBody>
      </p:sp>
      <p:pic>
        <p:nvPicPr>
          <p:cNvPr id="78" name="Google Shape;7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44400" y="7486659"/>
            <a:ext cx="22860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050"/>
              <a:buFont typeface="Roboto Slab"/>
              <a:buNone/>
            </a:pPr>
            <a:r>
              <a:rPr b="0" i="0" lang="en-US" sz="4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Nuestra Solución</a:t>
            </a:r>
            <a:endParaRPr b="0" i="0" sz="405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721638" y="1726644"/>
            <a:ext cx="3981688" cy="38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en-US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Plataforma Web Inteligente</a:t>
            </a:r>
            <a:endParaRPr b="0" i="0" sz="240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721638" y="2319338"/>
            <a:ext cx="6342102" cy="659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Sistema que integra IA, desarrollo Full-Stack y</a:t>
            </a:r>
            <a:r>
              <a:rPr lang="en-US" sz="16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análisis </a:t>
            </a:r>
            <a:endParaRPr b="0" i="0" sz="1600" u="none" cap="none" strike="noStrike">
              <a:solidFill>
                <a:srgbClr val="1521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de datos para procesar síntomas e imágenes médicas.</a:t>
            </a:r>
            <a:endParaRPr b="0" i="0" sz="160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721638" y="3164681"/>
            <a:ext cx="6342102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"/>
              <a:buChar char="•"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Análisis de síntomas en tiempo real</a:t>
            </a:r>
            <a:endParaRPr b="0" i="0" sz="160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721638" y="3566755"/>
            <a:ext cx="6342102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"/>
              <a:buChar char="•"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Clasificación de imágenes médicas</a:t>
            </a:r>
            <a:endParaRPr b="0" i="0" sz="160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721638" y="3968829"/>
            <a:ext cx="6342102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"/>
              <a:buChar char="•"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Orientación preliminar confiable</a:t>
            </a:r>
            <a:endParaRPr b="0" i="0" sz="160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721638" y="4370903"/>
            <a:ext cx="6342102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"/>
              <a:buChar char="•"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Acceso rápido y accesible</a:t>
            </a:r>
            <a:endParaRPr b="0" i="0" sz="1600" u="none" cap="none" strike="noStrike"/>
          </a:p>
        </p:txBody>
      </p:sp>
      <p:pic>
        <p:nvPicPr>
          <p:cNvPr descr="preencoded.png" id="91" name="Google Shape;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98" y="-3"/>
            <a:ext cx="8229599" cy="822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793790" y="164687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Viabilidad Técnica</a:t>
            </a:r>
            <a:endParaRPr b="0" i="0" sz="445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793790" y="280928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Construido sobre tecnologías robustas y ampliamente utilizadas en la industria</a:t>
            </a:r>
            <a:endParaRPr b="0" i="0" sz="175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1644249" y="3562000"/>
            <a:ext cx="3585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Backend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Node Js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+ Python</a:t>
            </a:r>
            <a:endParaRPr b="0" i="0" sz="220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1644253" y="4052411"/>
            <a:ext cx="552914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Liviano, escalable y compatible con librerías de IA profesionales.</a:t>
            </a:r>
            <a:endParaRPr b="0" i="0" sz="175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8307348" y="356199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Frontend React</a:t>
            </a:r>
            <a:endParaRPr b="0" i="0" sz="220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8307348" y="4052411"/>
            <a:ext cx="552926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Interfaces modernas, dinámicas y experiencia de usuario optimizada.</a:t>
            </a:r>
            <a:endParaRPr b="0" i="0" sz="175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1644253" y="5366504"/>
            <a:ext cx="284106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IA TensorFlow/Keras</a:t>
            </a:r>
            <a:endParaRPr b="0" i="0" sz="22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1644253" y="5856923"/>
            <a:ext cx="552914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Frameworks profesionales con alto rendimiento y soporte extenso.</a:t>
            </a:r>
            <a:endParaRPr b="0" i="0" sz="1750" u="none" cap="none" strike="noStrike"/>
          </a:p>
        </p:txBody>
      </p:sp>
      <p:pic>
        <p:nvPicPr>
          <p:cNvPr id="105" name="Google Shape;10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804" y="3427328"/>
            <a:ext cx="566973" cy="56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8307348" y="536650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MySQL</a:t>
            </a:r>
            <a:endParaRPr b="0" i="0" sz="22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8307348" y="5856923"/>
            <a:ext cx="552926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Base de datos segura, confiable y adaptada a sistemas en crecimiento.</a:t>
            </a:r>
            <a:endParaRPr b="0" i="0" sz="1750" u="none" cap="none" strike="noStrike"/>
          </a:p>
        </p:txBody>
      </p:sp>
      <p:pic>
        <p:nvPicPr>
          <p:cNvPr id="108" name="Google Shape;10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44400" y="7486650"/>
            <a:ext cx="22860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804" y="5231853"/>
            <a:ext cx="566973" cy="56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6879" y="5231853"/>
            <a:ext cx="566973" cy="56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56879" y="3427328"/>
            <a:ext cx="566973" cy="566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793790" y="1935956"/>
            <a:ext cx="611135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Viabilidad Operacional</a:t>
            </a:r>
            <a:endParaRPr b="0" i="0" sz="4450" u="none" cap="none" strike="noStrike"/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098363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1020604" y="42324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Metodología Ágil</a:t>
            </a:r>
            <a:endParaRPr b="0" i="0" sz="2200" u="none" cap="none" strike="noStrike"/>
          </a:p>
        </p:txBody>
      </p:sp>
      <p:sp>
        <p:nvSpPr>
          <p:cNvPr id="120" name="Google Shape;120;p5"/>
          <p:cNvSpPr/>
          <p:nvPr/>
        </p:nvSpPr>
        <p:spPr>
          <a:xfrm>
            <a:off x="1020604" y="4722852"/>
            <a:ext cx="389393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Scrum/Kanban con iteraciones validadas y roles claros (PO, SM, DEV).</a:t>
            </a:r>
            <a:endParaRPr b="0" i="0" sz="1750" u="none" cap="none" strike="noStrike"/>
          </a:p>
        </p:txBody>
      </p:sp>
      <p:pic>
        <p:nvPicPr>
          <p:cNvPr descr="preencoded.png" id="121" name="Google Shape;1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1357" y="3098363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5368171" y="42324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Control de Versiones</a:t>
            </a:r>
            <a:endParaRPr b="0" i="0" sz="220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5368171" y="4722852"/>
            <a:ext cx="389393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Repositorio GitHub ordenado con documentación técnica completa.</a:t>
            </a:r>
            <a:endParaRPr b="0" i="0" sz="1750" u="none" cap="none" strike="noStrike"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8924" y="3098363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9715738" y="42324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Integración Continua</a:t>
            </a:r>
            <a:endParaRPr b="0" i="0" sz="220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9715738" y="4722852"/>
            <a:ext cx="389393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Pruebas constantes entre frontend, backend e IA garantizan calidad.</a:t>
            </a:r>
            <a:endParaRPr b="0" i="0" sz="17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793790" y="593062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El equipo demostró capacidad para operar, mantener e iterar el sistema, garantizando continuidad y mejoras progresivas.</a:t>
            </a:r>
            <a:endParaRPr b="0" i="0" sz="1750" u="none" cap="none" strike="noStrike"/>
          </a:p>
        </p:txBody>
      </p:sp>
      <p:pic>
        <p:nvPicPr>
          <p:cNvPr id="128" name="Google Shape;128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44400" y="7486650"/>
            <a:ext cx="22860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793790" y="1054179"/>
            <a:ext cx="598574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Impacto Social Directo</a:t>
            </a:r>
            <a:endParaRPr b="0" i="0" sz="445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1478042" y="3690938"/>
            <a:ext cx="27898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65%</a:t>
            </a:r>
            <a:endParaRPr b="0" i="0" sz="4450" u="none" cap="none" strike="noStrike"/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932" y="2273260"/>
            <a:ext cx="3402330" cy="340233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1299329" y="5959078"/>
            <a:ext cx="314741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Reducción de Ansiedad</a:t>
            </a:r>
            <a:endParaRPr b="0" i="0" sz="2200" u="none" cap="none" strike="noStrike"/>
          </a:p>
        </p:txBody>
      </p:sp>
      <p:sp>
        <p:nvSpPr>
          <p:cNvPr id="138" name="Google Shape;138;p6"/>
          <p:cNvSpPr/>
          <p:nvPr/>
        </p:nvSpPr>
        <p:spPr>
          <a:xfrm>
            <a:off x="793790" y="6449497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Usuarios reciben orientación preliminar rápida y confiable.</a:t>
            </a:r>
            <a:endParaRPr b="0" i="0" sz="175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5920145" y="3690938"/>
            <a:ext cx="27898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80%</a:t>
            </a:r>
            <a:endParaRPr b="0" i="0" sz="4450" u="none" cap="none" strike="noStrike"/>
          </a:p>
        </p:txBody>
      </p:sp>
      <p:pic>
        <p:nvPicPr>
          <p:cNvPr descr="preencoded.png" id="140" name="Google Shape;1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4035" y="2273260"/>
            <a:ext cx="3402330" cy="340233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5897523" y="59590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Mejora en Decisiones</a:t>
            </a:r>
            <a:endParaRPr b="0" i="0" sz="220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5235893" y="6449497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Información clara guía consultas médicas más efectivas.</a:t>
            </a:r>
            <a:endParaRPr b="0" i="0" sz="175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10362248" y="3690938"/>
            <a:ext cx="27898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45%</a:t>
            </a:r>
            <a:endParaRPr b="0" i="0" sz="4450" u="none" cap="none" strike="noStrike"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6138" y="2273260"/>
            <a:ext cx="3402330" cy="340233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10339626" y="59590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Acceso Ampliado</a:t>
            </a:r>
            <a:endParaRPr b="0" i="0" sz="22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9677995" y="6449497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Poblaciones vulnerables acceden a herramientas de triaje básico.</a:t>
            </a:r>
            <a:endParaRPr b="0" i="0" sz="1750" u="none" cap="none" strike="noStrike"/>
          </a:p>
        </p:txBody>
      </p:sp>
      <p:pic>
        <p:nvPicPr>
          <p:cNvPr id="147" name="Google Shape;147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44400" y="7486650"/>
            <a:ext cx="22860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793790" y="1008936"/>
            <a:ext cx="579298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Diferenciadores Clave</a:t>
            </a:r>
            <a:endParaRPr b="0" i="0" sz="445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793790" y="2171343"/>
            <a:ext cx="6407944" cy="2411254"/>
          </a:xfrm>
          <a:prstGeom prst="roundRect">
            <a:avLst>
              <a:gd fmla="val 1411" name="adj"/>
            </a:avLst>
          </a:prstGeom>
          <a:solidFill>
            <a:srgbClr val="FBFCFE"/>
          </a:solidFill>
          <a:ln cap="flat" cmpd="sng" w="304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824270" y="2201823"/>
            <a:ext cx="6346984" cy="680442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827621" y="232933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650"/>
              <a:buFont typeface="Roboto Slab"/>
              <a:buNone/>
            </a:pPr>
            <a:r>
              <a:rPr b="0" i="0" lang="en-US" sz="2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2650" u="none" cap="none" strike="noStrike"/>
          </a:p>
        </p:txBody>
      </p:sp>
      <p:sp>
        <p:nvSpPr>
          <p:cNvPr id="157" name="Google Shape;157;p7"/>
          <p:cNvSpPr/>
          <p:nvPr/>
        </p:nvSpPr>
        <p:spPr>
          <a:xfrm>
            <a:off x="1051084" y="3109079"/>
            <a:ext cx="287345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Integración Completa</a:t>
            </a:r>
            <a:endParaRPr b="0" i="0" sz="220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Sistema funcional que combina ML, frontend, backend y base de datos en flujo real.</a:t>
            </a:r>
            <a:endParaRPr b="0" i="0" sz="175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7428548" y="2171343"/>
            <a:ext cx="6408063" cy="2411254"/>
          </a:xfrm>
          <a:prstGeom prst="roundRect">
            <a:avLst>
              <a:gd fmla="val 1411" name="adj"/>
            </a:avLst>
          </a:prstGeom>
          <a:solidFill>
            <a:srgbClr val="FBFCFE"/>
          </a:solidFill>
          <a:ln cap="flat" cmpd="sng" w="304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459027" y="2201823"/>
            <a:ext cx="6347103" cy="680442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0462498" y="232933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650"/>
              <a:buFont typeface="Roboto Slab"/>
              <a:buNone/>
            </a:pPr>
            <a:r>
              <a:rPr b="0" i="0" lang="en-US" sz="2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265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IA Híbrida Avanzada</a:t>
            </a:r>
            <a:endParaRPr b="0" i="0" sz="220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Clasificación de imágenes médicas + predicción basada en síntomas para mayor precisión.</a:t>
            </a:r>
            <a:endParaRPr b="0" i="0" sz="175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793790" y="4809411"/>
            <a:ext cx="6407944" cy="2411254"/>
          </a:xfrm>
          <a:prstGeom prst="roundRect">
            <a:avLst>
              <a:gd fmla="val 1411" name="adj"/>
            </a:avLst>
          </a:prstGeom>
          <a:solidFill>
            <a:srgbClr val="FBFCFE"/>
          </a:solidFill>
          <a:ln cap="flat" cmpd="sng" w="304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824270" y="4839891"/>
            <a:ext cx="6346984" cy="680442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3827621" y="496740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650"/>
              <a:buFont typeface="Roboto Slab"/>
              <a:buNone/>
            </a:pPr>
            <a:r>
              <a:rPr b="0" i="0" lang="en-US" sz="2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2650" u="none" cap="none" strike="noStrike"/>
          </a:p>
        </p:txBody>
      </p:sp>
      <p:sp>
        <p:nvSpPr>
          <p:cNvPr id="167" name="Google Shape;167;p7"/>
          <p:cNvSpPr/>
          <p:nvPr/>
        </p:nvSpPr>
        <p:spPr>
          <a:xfrm>
            <a:off x="1051084" y="5747147"/>
            <a:ext cx="303145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Arquitectura Escalable</a:t>
            </a:r>
            <a:endParaRPr b="0" i="0" sz="220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1051084" y="6237565"/>
            <a:ext cx="589335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Diseño modular Cliente-Servidor permite crecimiento e incorporación de nuevos modelos.</a:t>
            </a:r>
            <a:endParaRPr b="0" i="0" sz="175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7428548" y="4809411"/>
            <a:ext cx="6408063" cy="2411254"/>
          </a:xfrm>
          <a:prstGeom prst="roundRect">
            <a:avLst>
              <a:gd fmla="val 1411" name="adj"/>
            </a:avLst>
          </a:prstGeom>
          <a:solidFill>
            <a:srgbClr val="FBFCFE"/>
          </a:solidFill>
          <a:ln cap="flat" cmpd="sng" w="304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7459027" y="4839891"/>
            <a:ext cx="6347103" cy="680442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0462498" y="496740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650"/>
              <a:buFont typeface="Roboto Slab"/>
              <a:buNone/>
            </a:pPr>
            <a:r>
              <a:rPr b="0" i="0" lang="en-US" sz="2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265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7685842" y="57471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Enfoque HealthTech</a:t>
            </a:r>
            <a:endParaRPr b="0" i="0" sz="2200" u="none" cap="none" strike="noStrike"/>
          </a:p>
        </p:txBody>
      </p:sp>
      <p:sp>
        <p:nvSpPr>
          <p:cNvPr id="173" name="Google Shape;173;p7"/>
          <p:cNvSpPr/>
          <p:nvPr/>
        </p:nvSpPr>
        <p:spPr>
          <a:xfrm>
            <a:off x="7685842" y="6237565"/>
            <a:ext cx="589347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Orientado a problema real del mercado en área de alta inversión y demanda profesional.</a:t>
            </a:r>
            <a:endParaRPr b="0" i="0" sz="1750" u="none" cap="none" strike="noStrike"/>
          </a:p>
        </p:txBody>
      </p:sp>
      <p:pic>
        <p:nvPicPr>
          <p:cNvPr id="174" name="Google Shape;17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4400" y="7486650"/>
            <a:ext cx="22860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650558" y="511135"/>
            <a:ext cx="633364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650"/>
              <a:buFont typeface="Roboto Slab"/>
              <a:buNone/>
            </a:pPr>
            <a:r>
              <a:rPr b="0" i="0" lang="en-US" sz="36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Desafíos Técnicos Superados</a:t>
            </a:r>
            <a:endParaRPr b="0" i="0" sz="3650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650558" y="1580078"/>
            <a:ext cx="185857" cy="232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 Light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1450" u="none" cap="none" strike="noStrike"/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558" y="1873091"/>
            <a:ext cx="7816215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650558" y="2011680"/>
            <a:ext cx="2323743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00"/>
              <a:buFont typeface="Roboto Slab"/>
              <a:buNone/>
            </a:pPr>
            <a:r>
              <a:rPr b="0" i="0" lang="en-US" sz="1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Errores CORS</a:t>
            </a:r>
            <a:endParaRPr b="0" i="0" sz="1800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650558" y="2488049"/>
            <a:ext cx="7816215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Solución eficaz a comunicación entre dominios y compatibilidad.</a:t>
            </a:r>
            <a:endParaRPr b="0" i="0" sz="1450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650540" y="3110624"/>
            <a:ext cx="4167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 Light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1450" u="none" cap="none" strike="noStrike"/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558" y="3381494"/>
            <a:ext cx="7816215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650558" y="3542228"/>
            <a:ext cx="2323743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00"/>
              <a:buFont typeface="Roboto Slab"/>
              <a:buNone/>
            </a:pPr>
            <a:r>
              <a:rPr b="0" i="0" lang="en-US" sz="1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Preprocesamiento IA</a:t>
            </a:r>
            <a:endParaRPr b="0" i="0" sz="180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650558" y="4018598"/>
            <a:ext cx="7816215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Integración exitosa entre procesamiento de imágenes y modelo.</a:t>
            </a:r>
            <a:endParaRPr b="0" i="0" sz="145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650541" y="4641274"/>
            <a:ext cx="4167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 Light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1450" u="none" cap="none" strike="noStrike"/>
          </a:p>
        </p:txBody>
      </p:sp>
      <p:pic>
        <p:nvPicPr>
          <p:cNvPr descr="preencoded.png" id="190" name="Google Shape;1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558" y="4893469"/>
            <a:ext cx="7816215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650558" y="5072777"/>
            <a:ext cx="2323743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00"/>
              <a:buFont typeface="Roboto Slab"/>
              <a:buNone/>
            </a:pPr>
            <a:r>
              <a:rPr b="0" i="0" lang="en-US" sz="1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Datasets Sintéticos</a:t>
            </a:r>
            <a:endParaRPr b="0" i="0" sz="180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650558" y="5549146"/>
            <a:ext cx="7816215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Generación de datos con data augmentation ante falta de datasets reales.</a:t>
            </a:r>
            <a:endParaRPr b="0" i="0" sz="1450" u="none" cap="none" strike="noStrike"/>
          </a:p>
        </p:txBody>
      </p:sp>
      <p:sp>
        <p:nvSpPr>
          <p:cNvPr id="193" name="Google Shape;193;p8"/>
          <p:cNvSpPr/>
          <p:nvPr/>
        </p:nvSpPr>
        <p:spPr>
          <a:xfrm>
            <a:off x="650541" y="6171725"/>
            <a:ext cx="4167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 Light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  <a:endParaRPr b="0" i="0" sz="1450" u="none" cap="none" strike="noStrike"/>
          </a:p>
        </p:txBody>
      </p:sp>
      <p:pic>
        <p:nvPicPr>
          <p:cNvPr descr="preencoded.png" id="194" name="Google Shape;1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558" y="6405443"/>
            <a:ext cx="7816215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/>
          <p:nvPr/>
        </p:nvSpPr>
        <p:spPr>
          <a:xfrm>
            <a:off x="650558" y="6603325"/>
            <a:ext cx="2323743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00"/>
              <a:buFont typeface="Roboto Slab"/>
              <a:buNone/>
            </a:pPr>
            <a:r>
              <a:rPr b="0" i="0" lang="en-US" sz="1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Integración Total</a:t>
            </a:r>
            <a:endParaRPr b="0" i="0" sz="1800" u="none" cap="none" strike="noStrike"/>
          </a:p>
        </p:txBody>
      </p:sp>
      <p:sp>
        <p:nvSpPr>
          <p:cNvPr id="196" name="Google Shape;196;p8"/>
          <p:cNvSpPr/>
          <p:nvPr/>
        </p:nvSpPr>
        <p:spPr>
          <a:xfrm>
            <a:off x="650558" y="7079694"/>
            <a:ext cx="7816215" cy="29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Comunicación fluida React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↔</a:t>
            </a: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Node.js</a:t>
            </a: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↔</a:t>
            </a: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Modelo IA funcionando.</a:t>
            </a:r>
            <a:endParaRPr b="0" i="0" sz="1450" u="none" cap="none" strike="noStrike"/>
          </a:p>
        </p:txBody>
      </p:sp>
      <p:pic>
        <p:nvPicPr>
          <p:cNvPr descr="preencoded.png" id="197" name="Google Shape;19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7783" y="1650802"/>
            <a:ext cx="5059680" cy="505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44400" y="7486650"/>
            <a:ext cx="22860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793790" y="2783681"/>
            <a:ext cx="635246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Evidencias del Proyecto</a:t>
            </a:r>
            <a:endParaRPr b="0" i="0" sz="445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793790" y="42295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Prototipo Funcional</a:t>
            </a:r>
            <a:endParaRPr b="0" i="0" sz="220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793790" y="4719995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Aplicación web completa con interfaz de usuario operativa y flujo end-to-end.</a:t>
            </a:r>
            <a:endParaRPr b="0" i="0" sz="1750" u="none" cap="none" strike="noStrike"/>
          </a:p>
        </p:txBody>
      </p:sp>
      <p:sp>
        <p:nvSpPr>
          <p:cNvPr id="207" name="Google Shape;207;p9"/>
          <p:cNvSpPr/>
          <p:nvPr/>
        </p:nvSpPr>
        <p:spPr>
          <a:xfrm>
            <a:off x="5235893" y="42295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Modelo Entrenado</a:t>
            </a:r>
            <a:endParaRPr b="0" i="0" sz="2200" u="none" cap="none" strike="noStrike"/>
          </a:p>
        </p:txBody>
      </p:sp>
      <p:sp>
        <p:nvSpPr>
          <p:cNvPr id="208" name="Google Shape;208;p9"/>
          <p:cNvSpPr/>
          <p:nvPr/>
        </p:nvSpPr>
        <p:spPr>
          <a:xfrm>
            <a:off x="5235893" y="4719995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Modelos de IA validados con métricas de rendimiento documentadas.</a:t>
            </a:r>
            <a:endParaRPr b="0" i="0" sz="1750" u="none" cap="none" strike="noStrike"/>
          </a:p>
        </p:txBody>
      </p:sp>
      <p:sp>
        <p:nvSpPr>
          <p:cNvPr id="209" name="Google Shape;209;p9"/>
          <p:cNvSpPr/>
          <p:nvPr/>
        </p:nvSpPr>
        <p:spPr>
          <a:xfrm>
            <a:off x="9677995" y="42295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Pruebas Exitosas</a:t>
            </a:r>
            <a:endParaRPr b="0" i="0" sz="2200" u="none" cap="none" strike="noStrike"/>
          </a:p>
        </p:txBody>
      </p:sp>
      <p:sp>
        <p:nvSpPr>
          <p:cNvPr id="210" name="Google Shape;210;p9"/>
          <p:cNvSpPr/>
          <p:nvPr/>
        </p:nvSpPr>
        <p:spPr>
          <a:xfrm>
            <a:off x="9677995" y="4719995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Batería de tests de integración y validación de funcionalidades críticas.</a:t>
            </a:r>
            <a:endParaRPr b="0" i="0" sz="1750" u="none" cap="none" strike="noStrike"/>
          </a:p>
        </p:txBody>
      </p:sp>
      <p:pic>
        <p:nvPicPr>
          <p:cNvPr id="211" name="Google Shape;21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4400" y="7486650"/>
            <a:ext cx="22860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7" name="Google Shape;2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611386" y="581858"/>
            <a:ext cx="7921228" cy="218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17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6850"/>
              <a:buFont typeface="Roboto Slab"/>
              <a:buNone/>
            </a:pPr>
            <a:r>
              <a:rPr b="0" i="0" lang="en-US" sz="68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Proyecto Sólido y Escalable</a:t>
            </a:r>
            <a:endParaRPr b="0" i="0" sz="6850" u="none" cap="none" strike="noStrike"/>
          </a:p>
        </p:txBody>
      </p:sp>
      <p:sp>
        <p:nvSpPr>
          <p:cNvPr id="219" name="Google Shape;219;p10"/>
          <p:cNvSpPr/>
          <p:nvPr/>
        </p:nvSpPr>
        <p:spPr>
          <a:xfrm>
            <a:off x="611386" y="3027759"/>
            <a:ext cx="7921228" cy="83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Symptom To Specialist es una solución viable, innovadora y con impacto relevante en salud digital. Su integración completa, IA híbrida y arquitectura robusta lo posicionan como proyecto de alto valor, superior a alternativas similares.</a:t>
            </a:r>
            <a:endParaRPr b="0" i="0" sz="135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611386" y="4062532"/>
            <a:ext cx="3873222" cy="1705213"/>
          </a:xfrm>
          <a:prstGeom prst="roundRect">
            <a:avLst>
              <a:gd fmla="val 153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051" y="4237196"/>
            <a:ext cx="524113" cy="52411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786051" y="4935974"/>
            <a:ext cx="2350889" cy="2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 Slab"/>
              <a:buNone/>
            </a:pPr>
            <a:r>
              <a:rPr b="0" i="0" lang="en-US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Viabilidad Demostrada</a:t>
            </a:r>
            <a:endParaRPr b="0" i="0" sz="1700" u="none" cap="none" strike="noStrike"/>
          </a:p>
        </p:txBody>
      </p:sp>
      <p:sp>
        <p:nvSpPr>
          <p:cNvPr id="223" name="Google Shape;223;p10"/>
          <p:cNvSpPr/>
          <p:nvPr/>
        </p:nvSpPr>
        <p:spPr>
          <a:xfrm>
            <a:off x="786051" y="5313640"/>
            <a:ext cx="3523893" cy="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Técnica, operacional y social</a:t>
            </a:r>
            <a:endParaRPr b="0" i="0" sz="1350" u="none" cap="none" strike="noStrike"/>
          </a:p>
        </p:txBody>
      </p:sp>
      <p:sp>
        <p:nvSpPr>
          <p:cNvPr id="224" name="Google Shape;224;p10"/>
          <p:cNvSpPr/>
          <p:nvPr/>
        </p:nvSpPr>
        <p:spPr>
          <a:xfrm>
            <a:off x="4659273" y="4062532"/>
            <a:ext cx="3873341" cy="1705213"/>
          </a:xfrm>
          <a:prstGeom prst="roundRect">
            <a:avLst>
              <a:gd fmla="val 153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3938" y="4237196"/>
            <a:ext cx="524113" cy="52411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/>
          <p:nvPr/>
        </p:nvSpPr>
        <p:spPr>
          <a:xfrm>
            <a:off x="4833938" y="4935974"/>
            <a:ext cx="2564368" cy="2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 Slab"/>
              <a:buNone/>
            </a:pPr>
            <a:r>
              <a:rPr b="0" i="0" lang="en-US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Potencial de Crecimiento</a:t>
            </a:r>
            <a:endParaRPr b="0" i="0" sz="1700" u="none" cap="none" strike="noStrike"/>
          </a:p>
        </p:txBody>
      </p:sp>
      <p:sp>
        <p:nvSpPr>
          <p:cNvPr id="227" name="Google Shape;227;p10"/>
          <p:cNvSpPr/>
          <p:nvPr/>
        </p:nvSpPr>
        <p:spPr>
          <a:xfrm>
            <a:off x="4833938" y="5313640"/>
            <a:ext cx="3524012" cy="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Escalable y profesional</a:t>
            </a:r>
            <a:endParaRPr b="0" i="0" sz="135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611386" y="5942409"/>
            <a:ext cx="7921228" cy="1705213"/>
          </a:xfrm>
          <a:prstGeom prst="roundRect">
            <a:avLst>
              <a:gd fmla="val 153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051" y="6117074"/>
            <a:ext cx="524113" cy="52411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/>
          <p:nvPr/>
        </p:nvSpPr>
        <p:spPr>
          <a:xfrm>
            <a:off x="786051" y="6815852"/>
            <a:ext cx="2183844" cy="272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 Slab"/>
              <a:buNone/>
            </a:pPr>
            <a:r>
              <a:rPr b="0" i="0" lang="en-US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Valor Diferenciado</a:t>
            </a:r>
            <a:endParaRPr b="0" i="0" sz="170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786051" y="7193518"/>
            <a:ext cx="7571899" cy="27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Superior a proyectos similares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2025-11-21T01:30:40Z</dcterms:created>
</cp:coreProperties>
</file>